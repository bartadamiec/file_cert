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448" r:id="rId5"/>
    <p:sldId id="2465" r:id="rId6"/>
    <p:sldId id="2464" r:id="rId7"/>
    <p:sldId id="259" r:id="rId8"/>
    <p:sldId id="2433" r:id="rId9"/>
    <p:sldId id="2436" r:id="rId10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8FB50-B618-40AB-B096-A7B3AC038089}" v="395" dt="2026-01-19T14:15:11.751"/>
    <p1510:client id="{6975EF9E-C214-46B6-9B41-288E63AC914B}" v="321" dt="2026-01-19T22:45:16.604"/>
    <p1510:client id="{C2F12FC2-79BD-46D9-A310-76D8520F8670}" v="471" dt="2026-01-19T22:26:30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19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114" y="19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87" d="100"/>
          <a:sy n="87" d="100"/>
        </p:scale>
        <p:origin x="380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E83346-C0A2-43E9-A924-8859F2B2F293}" type="datetime1">
              <a:rPr lang="pl-PL" smtClean="0"/>
              <a:t>19.01.2026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C6666-FCF4-4134-8981-40FBB4E36647}" type="datetime1">
              <a:rPr lang="pl-PL" smtClean="0"/>
              <a:pPr/>
              <a:t>19.01.2026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78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D1B1-731F-2DDB-2E0D-E53BFB13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16D12D97-EDE8-5ED1-0CAB-FBF8B5A7F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CFD0BC4F-AEEA-20B9-1812-454A3CCBA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D7AECF1F-9BE4-2BD8-B770-CCF928B88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9453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DE59-DFB6-54BA-6800-F182A8D8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76CE30C5-F7C7-252C-60B8-2983E1DF3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7818B19A-B132-0C5D-4B40-EDD02457F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7BA6ED3D-43B2-D8C3-6201-F75E7F0C6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559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7309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159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l-PL" spc="300" noProof="0"/>
              <a:t>PRZEGLĄD ROCZNY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l-PL" noProof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spotk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kst — symbol zastępczy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l-PL" noProof="0"/>
              <a:t>KLIKNIJ, ABY EDYTOWAĆ WZORZEC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l-PL" noProof="0"/>
              <a:t>MIEJSCE NA TYTUŁ SLAJDU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9" name="Numer slajdu — symbol zastępczy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5" name="Obraz — symbol zastępczy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9" name="Obraz — symbol zastępczy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Obraz — symbol zastępczy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Obraz — symbol zastępczy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2" name="Obraz — symbol zastępczy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3" name="Obraz — symbol zastępczy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ykres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ytuł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19" name="Obraz — symbol zastępczy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Tekst — symbol zastępczy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1" name="Zawartość — symbol zastępczy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2" name="Tekst — symbol zastępczy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4" name="Zawartość — symbol zastępczy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20" name="Numer slajdu — symbol zastępczy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28" name="Tekst — symbol zastępczy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4" name="Obraz — symbol zastępczy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Obraz — symbol zastępczy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9" name="Tekst — symbol zastępczy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0" name="Tekst — symbol zastępczy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1" name="Numer slajdu — symbol zastępczy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mknię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6" name="Tytuł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l-PL" sz="4000" spc="300" noProof="0"/>
              <a:t>Kliknij, aby edytować styl wzorca tytułu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1" name="Tekst — symbol zastępczy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2" name="Tekst — symbol zastępczy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3" name="Tekst — symbol zastępczy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4" name="Obraz online — symbol zastępczy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5" name="Obraz online — symbol zastępczy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6" name="Obraz online — symbol zastępczy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abstrakcyjny obraz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dirty="0"/>
              <a:t>File cert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pl-PL" dirty="0"/>
              <a:t>26.01.2026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pl-PL" dirty="0"/>
              <a:t>System Podpisów cyfrowych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9E44-5D2A-222B-D505-B663CFAC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153D32C5-4EF7-32D5-4EC9-A914D057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730" y="426183"/>
            <a:ext cx="4159487" cy="930700"/>
          </a:xfrm>
        </p:spPr>
        <p:txBody>
          <a:bodyPr rtlCol="0"/>
          <a:lstStyle/>
          <a:p>
            <a:pPr algn="ctr"/>
            <a:r>
              <a:rPr lang="pl-PL" dirty="0">
                <a:ea typeface="Calibri Light"/>
                <a:cs typeface="Calibri Light"/>
              </a:rPr>
              <a:t>FILE CERT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2391094D-A81B-0753-3F5B-99467E19E3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23173" y="1360284"/>
            <a:ext cx="4165370" cy="464871"/>
          </a:xfrm>
        </p:spPr>
        <p:txBody>
          <a:bodyPr rtlCol="0"/>
          <a:lstStyle/>
          <a:p>
            <a:r>
              <a:rPr lang="pl-PL">
                <a:ea typeface="Calibri"/>
                <a:cs typeface="Calibri"/>
              </a:rPr>
              <a:t>Opis projektu</a:t>
            </a:r>
            <a:endParaRPr lang="pl-PL" dirty="0">
              <a:ea typeface="Calibri"/>
              <a:cs typeface="Calibri"/>
            </a:endParaRPr>
          </a:p>
        </p:txBody>
      </p:sp>
      <p:sp>
        <p:nvSpPr>
          <p:cNvPr id="9" name="Zawartość — symbol zastępczy 8">
            <a:extLst>
              <a:ext uri="{FF2B5EF4-FFF2-40B4-BE49-F238E27FC236}">
                <a16:creationId xmlns:a16="http://schemas.microsoft.com/office/drawing/2014/main" id="{7FB693FC-FCDE-BC10-A916-8045C36B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872" y="1931017"/>
            <a:ext cx="8457098" cy="12563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Biome Light"/>
              </a:rPr>
              <a:t>Syste</a:t>
            </a:r>
            <a:r>
              <a:rPr lang="pl-PL" dirty="0">
                <a:ea typeface="Calibri"/>
                <a:cs typeface="Calibri"/>
              </a:rPr>
              <a:t>m klient – serwer (REST API) obsługiwany z poziomu CLI. Pozwala na cyfrowe podpisanie dokumentu PDF zgodnie ze standardem </a:t>
            </a:r>
            <a:r>
              <a:rPr lang="pl-PL" dirty="0" err="1">
                <a:ea typeface="Calibri"/>
                <a:cs typeface="Calibri"/>
              </a:rPr>
              <a:t>PAdES</a:t>
            </a:r>
            <a:r>
              <a:rPr lang="pl-PL" dirty="0">
                <a:ea typeface="Calibri"/>
                <a:cs typeface="Calibri"/>
              </a:rPr>
              <a:t> oraz weryfikację innych podpisanych plików. Weryfikacja jest pozytywna jeśli każdy z podpisów na danym dokumencie jest zgodny, plik nie został nadpisany i osoba podpisująca jest użytkownikiem systemu.</a:t>
            </a: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Klient napisany w: Typer.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Asynchroniczny serwer ASGI (</a:t>
            </a:r>
            <a:r>
              <a:rPr lang="pl-PL" dirty="0" err="1">
                <a:ea typeface="Calibri"/>
                <a:cs typeface="Calibri"/>
              </a:rPr>
              <a:t>Asynchronous</a:t>
            </a:r>
            <a:r>
              <a:rPr lang="pl-PL" dirty="0">
                <a:ea typeface="Calibri"/>
                <a:cs typeface="Calibri"/>
              </a:rPr>
              <a:t> Server Gateway Interface): UVICORN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Komunikacja (API) napisane z </a:t>
            </a:r>
            <a:r>
              <a:rPr lang="pl-PL" dirty="0" err="1">
                <a:ea typeface="Calibri"/>
                <a:cs typeface="Calibri"/>
              </a:rPr>
              <a:t>pomoca</a:t>
            </a:r>
            <a:r>
              <a:rPr lang="pl-PL" dirty="0">
                <a:ea typeface="Calibri"/>
                <a:cs typeface="Calibri"/>
              </a:rPr>
              <a:t>: </a:t>
            </a:r>
            <a:r>
              <a:rPr lang="pl-PL" dirty="0" err="1">
                <a:ea typeface="Calibri"/>
                <a:cs typeface="Calibri"/>
              </a:rPr>
              <a:t>FastAPI</a:t>
            </a: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Kryptografia: </a:t>
            </a:r>
            <a:r>
              <a:rPr lang="pl-PL" dirty="0" err="1">
                <a:ea typeface="Calibri"/>
                <a:cs typeface="Calibri"/>
              </a:rPr>
              <a:t>Pyhanko</a:t>
            </a:r>
            <a:r>
              <a:rPr lang="pl-PL" dirty="0">
                <a:ea typeface="Calibri"/>
                <a:cs typeface="Calibri"/>
              </a:rPr>
              <a:t>, </a:t>
            </a:r>
            <a:r>
              <a:rPr lang="pl-PL" dirty="0" err="1">
                <a:ea typeface="Calibri"/>
                <a:cs typeface="Calibri"/>
              </a:rPr>
              <a:t>cryptography</a:t>
            </a:r>
            <a:endParaRPr lang="pl-PL" dirty="0">
              <a:ea typeface="Calibri"/>
              <a:cs typeface="Calibri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l-PL" dirty="0">
                <a:ea typeface="Calibri"/>
                <a:cs typeface="Calibri"/>
              </a:rPr>
              <a:t>Baza </a:t>
            </a:r>
            <a:r>
              <a:rPr lang="pl-PL" dirty="0" err="1">
                <a:ea typeface="Calibri"/>
                <a:cs typeface="Calibri"/>
              </a:rPr>
              <a:t>NoSQL</a:t>
            </a:r>
            <a:r>
              <a:rPr lang="pl-PL" dirty="0">
                <a:ea typeface="Calibri"/>
                <a:cs typeface="Calibri"/>
              </a:rPr>
              <a:t>: </a:t>
            </a:r>
            <a:r>
              <a:rPr lang="pl-PL" dirty="0" err="1">
                <a:ea typeface="Calibri"/>
                <a:cs typeface="Calibri"/>
              </a:rPr>
              <a:t>MongoDB</a:t>
            </a:r>
            <a:endParaRPr lang="pl-PL" dirty="0" err="1"/>
          </a:p>
          <a:p>
            <a:pPr marL="0" indent="0">
              <a:lnSpc>
                <a:spcPct val="100000"/>
              </a:lnSpc>
              <a:buNone/>
            </a:pPr>
            <a:endParaRPr lang="pl-PL" dirty="0">
              <a:ea typeface="Calibri"/>
              <a:cs typeface="Calibri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352D718C-628C-6AE6-D77B-C4548D813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2</a:t>
            </a:fld>
            <a:endParaRPr lang="pl-PL"/>
          </a:p>
        </p:txBody>
      </p:sp>
      <p:sp>
        <p:nvSpPr>
          <p:cNvPr id="3" name="Tekst — symbol zastępczy 9">
            <a:extLst>
              <a:ext uri="{FF2B5EF4-FFF2-40B4-BE49-F238E27FC236}">
                <a16:creationId xmlns:a16="http://schemas.microsoft.com/office/drawing/2014/main" id="{42584532-220E-E960-26F2-6DC56E7C4BFB}"/>
              </a:ext>
            </a:extLst>
          </p:cNvPr>
          <p:cNvSpPr txBox="1">
            <a:spLocks/>
          </p:cNvSpPr>
          <p:nvPr/>
        </p:nvSpPr>
        <p:spPr>
          <a:xfrm>
            <a:off x="4026677" y="3430822"/>
            <a:ext cx="416537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>
                <a:ea typeface="Calibri"/>
                <a:cs typeface="Calibri"/>
              </a:rPr>
              <a:t>Technologie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350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C161-9A5B-D644-F878-E5765ABE1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90B75E3E-3B8A-133B-A04D-16F5D440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340" y="-20076"/>
            <a:ext cx="4165401" cy="927533"/>
          </a:xfrm>
        </p:spPr>
        <p:txBody>
          <a:bodyPr rtlCol="0"/>
          <a:lstStyle/>
          <a:p>
            <a:pPr algn="ctr"/>
            <a:r>
              <a:rPr lang="pl-PL" dirty="0">
                <a:ea typeface="Calibri Light"/>
                <a:cs typeface="Calibri Light"/>
              </a:rPr>
              <a:t>Po co to komu?</a:t>
            </a:r>
            <a:endParaRPr lang="pl-PL"/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D616958F-FA7F-4E20-0AE9-29D671D317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0994" y="914025"/>
            <a:ext cx="4165370" cy="464871"/>
          </a:xfrm>
        </p:spPr>
        <p:txBody>
          <a:bodyPr rtlCol="0"/>
          <a:lstStyle/>
          <a:p>
            <a:r>
              <a:rPr lang="pl-PL"/>
              <a:t>Przykłady</a:t>
            </a:r>
          </a:p>
        </p:txBody>
      </p:sp>
      <p:sp>
        <p:nvSpPr>
          <p:cNvPr id="9" name="Zawartość — symbol zastępczy 8">
            <a:extLst>
              <a:ext uri="{FF2B5EF4-FFF2-40B4-BE49-F238E27FC236}">
                <a16:creationId xmlns:a16="http://schemas.microsoft.com/office/drawing/2014/main" id="{6050CDE4-5324-BEF6-D129-444175750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546" y="1786504"/>
            <a:ext cx="9573268" cy="39950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dzieli nas fizyczny dystans, a musimy podpisać umów.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chcemy zobaczyć czy ktoś nie dopisał czegoś do umowy po tym jak już ją podpisaliśmy.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Biome Light"/>
              </a:rPr>
              <a:t>Gdy chcemy zweryfikować czy dokładnie ta osoba podpisała konkretny dokument.</a:t>
            </a:r>
          </a:p>
          <a:p>
            <a:pPr marL="0" indent="0">
              <a:lnSpc>
                <a:spcPct val="100000"/>
              </a:lnSpc>
              <a:buNone/>
            </a:pPr>
            <a:endParaRPr lang="pl-PL" sz="1800" dirty="0">
              <a:ea typeface="Calibri"/>
              <a:cs typeface="Biome Light"/>
            </a:endParaRPr>
          </a:p>
          <a:p>
            <a:pPr marL="0" indent="0">
              <a:lnSpc>
                <a:spcPct val="100000"/>
              </a:lnSpc>
              <a:buNone/>
            </a:pPr>
            <a:endParaRPr lang="pl-PL" sz="1800" dirty="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dirty="0">
                <a:ea typeface="Calibri"/>
                <a:cs typeface="Calibri"/>
              </a:rPr>
              <a:t>Autentyczność </a:t>
            </a:r>
            <a:endParaRPr lang="en-US" sz="180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Pewność kto podpisał (weryfikacja X.509)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err="1">
                <a:ea typeface="Calibri"/>
                <a:cs typeface="Calibri"/>
              </a:rPr>
              <a:t>Integralnosc</a:t>
            </a:r>
            <a:endParaRPr lang="pl-PL" sz="1800" dirty="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Pewność że plik nie został zmieniony</a:t>
            </a:r>
            <a:endParaRPr lang="en-US" sz="1800">
              <a:ea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pl-PL" sz="1800" err="1">
                <a:ea typeface="Calibri"/>
                <a:cs typeface="Calibri"/>
              </a:rPr>
              <a:t>Niezaprzeczalnosc</a:t>
            </a:r>
            <a:endParaRPr lang="en-US" sz="1800">
              <a:ea typeface="Calibri"/>
              <a:cs typeface="Calibri"/>
            </a:endParaRPr>
          </a:p>
          <a:p>
            <a:pPr marL="800100" lvl="1" indent="-342900">
              <a:lnSpc>
                <a:spcPct val="100000"/>
              </a:lnSpc>
              <a:buFont typeface="Courier New,monospace"/>
              <a:buChar char="o"/>
            </a:pPr>
            <a:r>
              <a:rPr lang="pl-PL" sz="1800" dirty="0">
                <a:ea typeface="Calibri"/>
                <a:cs typeface="Calibri"/>
              </a:rPr>
              <a:t>Autor nie może wyprzeć się podpisu, ponieważ tylko on posiadał klucz prywatny</a:t>
            </a:r>
            <a:endParaRPr lang="pl-PL" sz="1800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5D12EA62-876F-C07D-F9BF-25449D09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3</a:t>
            </a:fld>
            <a:endParaRPr lang="pl-PL"/>
          </a:p>
        </p:txBody>
      </p:sp>
      <p:sp>
        <p:nvSpPr>
          <p:cNvPr id="12" name="Tekst — symbol zastępczy 9">
            <a:extLst>
              <a:ext uri="{FF2B5EF4-FFF2-40B4-BE49-F238E27FC236}">
                <a16:creationId xmlns:a16="http://schemas.microsoft.com/office/drawing/2014/main" id="{3439DD3A-278C-C91A-1C22-1DA9086E9146}"/>
              </a:ext>
            </a:extLst>
          </p:cNvPr>
          <p:cNvSpPr txBox="1">
            <a:spLocks/>
          </p:cNvSpPr>
          <p:nvPr/>
        </p:nvSpPr>
        <p:spPr>
          <a:xfrm>
            <a:off x="3814849" y="3092652"/>
            <a:ext cx="416537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kern="1200" spc="3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/>
              <a:t>Zalety</a:t>
            </a:r>
          </a:p>
        </p:txBody>
      </p:sp>
    </p:spTree>
    <p:extLst>
      <p:ext uri="{BB962C8B-B14F-4D97-AF65-F5344CB8AC3E}">
        <p14:creationId xmlns:p14="http://schemas.microsoft.com/office/powerpoint/2010/main" val="160925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976" y="586060"/>
            <a:ext cx="4156741" cy="927533"/>
          </a:xfrm>
        </p:spPr>
        <p:txBody>
          <a:bodyPr rtlCol="0"/>
          <a:lstStyle/>
          <a:p>
            <a:r>
              <a:rPr lang="pl-PL" dirty="0"/>
              <a:t>Podpis Elektroniczny</a:t>
            </a:r>
          </a:p>
        </p:txBody>
      </p:sp>
      <p:sp>
        <p:nvSpPr>
          <p:cNvPr id="10" name="Tekst — symbol zastępczy 9">
            <a:extLst>
              <a:ext uri="{FF2B5EF4-FFF2-40B4-BE49-F238E27FC236}">
                <a16:creationId xmlns:a16="http://schemas.microsoft.com/office/drawing/2014/main" id="{255FA470-23EB-4512-8FFB-28DDAB08B0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16630" y="1520161"/>
            <a:ext cx="4165370" cy="464871"/>
          </a:xfrm>
        </p:spPr>
        <p:txBody>
          <a:bodyPr rtlCol="0"/>
          <a:lstStyle/>
          <a:p>
            <a:r>
              <a:rPr lang="pl-PL"/>
              <a:t>Jak działa?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4</a:t>
            </a:fld>
            <a:endParaRPr lang="pl-PL"/>
          </a:p>
        </p:txBody>
      </p:sp>
      <p:pic>
        <p:nvPicPr>
          <p:cNvPr id="13" name="Obraz 12" descr="Obraz zawierający tekst, zrzut ekranu, Czcionka, biały&#10;&#10;Zawartość wygenerowana przez AI może być niepoprawna.">
            <a:extLst>
              <a:ext uri="{FF2B5EF4-FFF2-40B4-BE49-F238E27FC236}">
                <a16:creationId xmlns:a16="http://schemas.microsoft.com/office/drawing/2014/main" id="{CDC34B05-8E50-B3DD-960E-BFF511DE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04" y="2783466"/>
            <a:ext cx="10660206" cy="255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diagram, zrzut ekranu, Równolegle&#10;&#10;Zawartość wygenerowana przez AI może być niepoprawna.">
            <a:extLst>
              <a:ext uri="{FF2B5EF4-FFF2-40B4-BE49-F238E27FC236}">
                <a16:creationId xmlns:a16="http://schemas.microsoft.com/office/drawing/2014/main" id="{4538248B-B1F9-27D6-7EAD-759E05762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380319"/>
            <a:ext cx="8420099" cy="6108246"/>
          </a:xfrm>
          <a:prstGeom prst="rect">
            <a:avLst/>
          </a:prstGeom>
        </p:spPr>
      </p:pic>
      <p:sp>
        <p:nvSpPr>
          <p:cNvPr id="12" name="Tytuł 3">
            <a:extLst>
              <a:ext uri="{FF2B5EF4-FFF2-40B4-BE49-F238E27FC236}">
                <a16:creationId xmlns:a16="http://schemas.microsoft.com/office/drawing/2014/main" id="{FAAB2787-6A77-4A87-993D-DDAF9241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898" y="169077"/>
            <a:ext cx="6405480" cy="823913"/>
          </a:xfrm>
        </p:spPr>
        <p:txBody>
          <a:bodyPr rtlCol="0">
            <a:normAutofit/>
          </a:bodyPr>
          <a:lstStyle/>
          <a:p>
            <a:pPr rtl="0"/>
            <a:r>
              <a:rPr lang="pl-PL" dirty="0">
                <a:ea typeface="Calibri Light"/>
                <a:cs typeface="Calibri Light"/>
              </a:rPr>
              <a:t>architektura</a:t>
            </a:r>
            <a:endParaRPr lang="pl-PL" sz="4800" dirty="0">
              <a:ea typeface="Calibri Light"/>
              <a:cs typeface="Calibri Light"/>
            </a:endParaRPr>
          </a:p>
        </p:txBody>
      </p:sp>
      <p:sp>
        <p:nvSpPr>
          <p:cNvPr id="2" name="Numer slajdu — symbol zastępczy 1">
            <a:extLst>
              <a:ext uri="{FF2B5EF4-FFF2-40B4-BE49-F238E27FC236}">
                <a16:creationId xmlns:a16="http://schemas.microsoft.com/office/drawing/2014/main" id="{6AC2F439-9B68-4159-977F-8EC563FB15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909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Obraz — symbol zastępczy 7" descr="abstrakcyjny obraz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ytuł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rmAutofit/>
          </a:bodyPr>
          <a:lstStyle/>
          <a:p>
            <a:r>
              <a:rPr lang="pl-PL" sz="4000" spc="300" dirty="0">
                <a:ea typeface="Calibri Light"/>
                <a:cs typeface="Calibri Light"/>
              </a:rPr>
              <a:t>Czas na demonstrację!</a:t>
            </a:r>
          </a:p>
        </p:txBody>
      </p:sp>
      <p:pic>
        <p:nvPicPr>
          <p:cNvPr id="24" name="Obraz online — symbol zastępczy 23" descr="Użytkownik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8915" y="3173326"/>
            <a:ext cx="731520" cy="731520"/>
          </a:xfrm>
        </p:spPr>
      </p:pic>
      <p:sp>
        <p:nvSpPr>
          <p:cNvPr id="8" name="Tekst — symbol zastępczy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75169" y="3903126"/>
            <a:ext cx="3139010" cy="5187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dirty="0"/>
              <a:t>Bartłomiej Adamiec</a:t>
            </a:r>
            <a:endParaRPr lang="pl-PL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221" y="5137992"/>
            <a:ext cx="5167313" cy="51879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pl-PL" dirty="0"/>
              <a:t>WWW.FILECERT/API.PL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661986_LW_V2" id="{E5110F26-8197-DB45-AF5B-7431BEF0563B}" vid="{8AAB886A-F653-1948-BBB7-F7B1A419C211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E4EAC9-33DC-4CF0-BA31-C98F61CE47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02A8ED-1331-4C1D-8649-743D7BE164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9A06775-4FD5-4278-BDCC-E6FF131E96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444</Words>
  <Application>Microsoft Office PowerPoint</Application>
  <PresentationFormat>Panoramiczny</PresentationFormat>
  <Paragraphs>142</Paragraphs>
  <Slides>6</Slides>
  <Notes>6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File cert</vt:lpstr>
      <vt:lpstr>FILE CERT</vt:lpstr>
      <vt:lpstr>Po co to komu?</vt:lpstr>
      <vt:lpstr>Podpis Elektroniczny</vt:lpstr>
      <vt:lpstr>architektura</vt:lpstr>
      <vt:lpstr>Czas na demonstrację!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346</cp:revision>
  <dcterms:created xsi:type="dcterms:W3CDTF">2026-01-19T13:30:36Z</dcterms:created>
  <dcterms:modified xsi:type="dcterms:W3CDTF">2026-01-19T22:45:33Z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