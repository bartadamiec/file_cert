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448" r:id="rId5"/>
    <p:sldId id="2465" r:id="rId6"/>
    <p:sldId id="2464" r:id="rId7"/>
    <p:sldId id="259" r:id="rId8"/>
    <p:sldId id="2433" r:id="rId9"/>
    <p:sldId id="2436" r:id="rId10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E3C6C0-4CC9-41F7-BDB0-F661EF2C001C}" v="87" dt="2026-01-26T19:13:56.8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719" autoAdjust="0"/>
    <p:restoredTop sz="95033" autoAdjust="0"/>
  </p:normalViewPr>
  <p:slideViewPr>
    <p:cSldViewPr snapToGrid="0">
      <p:cViewPr varScale="1">
        <p:scale>
          <a:sx n="104" d="100"/>
          <a:sy n="104" d="100"/>
        </p:scale>
        <p:origin x="114" y="198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87" d="100"/>
          <a:sy n="87" d="100"/>
        </p:scale>
        <p:origin x="3804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5E83346-C0A2-43E9-A924-8859F2B2F293}" type="datetime1">
              <a:rPr lang="pl-PL" smtClean="0"/>
              <a:t>26.01.2026</a:t>
            </a:fld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65AE8BC-2AB3-9E4C-9797-2A6F8A74C74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DC6666-FCF4-4134-8981-40FBB4E36647}" type="datetime1">
              <a:rPr lang="pl-PL" smtClean="0"/>
              <a:pPr/>
              <a:t>26.01.2026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28B34ED-4CDD-41C9-90F7-D768D5559A6F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0780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D1B1-731F-2DDB-2E0D-E53BFB13F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16D12D97-EDE8-5ED1-0CAB-FBF8B5A7F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CFD0BC4F-AEEA-20B9-1812-454A3CCBA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D7AECF1F-9BE4-2BD8-B770-CCF928B88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89453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4DE59-DFB6-54BA-6800-F182A8D8F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76CE30C5-F7C7-252C-60B8-2983E1DF3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7818B19A-B132-0C5D-4B40-EDD02457F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7BA6ED3D-43B2-D8C3-6201-F75E7F0C6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2559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2949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37309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21590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4" name="Tekst — symbol zastępczy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7" name="Tekst — symbol zastępczy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pPr rtl="0"/>
            <a:r>
              <a:rPr lang="pl-PL" spc="300" noProof="0"/>
              <a:t>PRZEGLĄD ROCZNY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pPr rtl="0"/>
            <a:r>
              <a:rPr lang="pl-PL" noProof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 spotka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pPr rtl="0"/>
            <a:r>
              <a:rPr lang="pl-PL" noProof="0"/>
              <a:t>Tytuł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3" name="Tekst — symbol zastępczy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 rtlCol="0"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stę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kst — symbol zastępczy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 rtl="0"/>
            <a:r>
              <a:rPr lang="pl-PL" noProof="0"/>
              <a:t>KLIKNIJ, ABY EDYTOWAĆ STYLE WZORCÓW TEKSTU</a:t>
            </a:r>
          </a:p>
        </p:txBody>
      </p:sp>
      <p:sp>
        <p:nvSpPr>
          <p:cNvPr id="9" name="Obraz — symbol zastępczy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1" name="Numer slajdu — symbol zastępczy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6" name="Zawartość — symbol zastępczy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pl-PL" sz="1600" noProof="0">
                <a:cs typeface="Biome Light" panose="020B0303030204020804" pitchFamily="34" charset="0"/>
              </a:rPr>
              <a:t>Kliknij, aby edytować styl wzorca tekstu.</a:t>
            </a:r>
          </a:p>
          <a:p>
            <a:pPr marL="0" indent="0" rtl="0">
              <a:buNone/>
            </a:pPr>
            <a:endParaRPr lang="pl-PL" noProof="0"/>
          </a:p>
        </p:txBody>
      </p:sp>
      <p:sp>
        <p:nvSpPr>
          <p:cNvPr id="17" name="Numer slajdu — symbol zastępczy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ział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rtlCol="0" anchor="b"/>
          <a:lstStyle>
            <a:lvl1pPr algn="l">
              <a:defRPr sz="6000" spc="300"/>
            </a:lvl1pPr>
          </a:lstStyle>
          <a:p>
            <a:pPr rtl="0"/>
            <a:r>
              <a:rPr lang="pl-PL" noProof="0"/>
              <a:t>KLIKNIJ, ABY EDYTOWAĆ WZORZEC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spó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 rtlCol="0">
            <a:noAutofit/>
          </a:bodyPr>
          <a:lstStyle>
            <a:lvl1pPr algn="l">
              <a:defRPr sz="3200" spc="300"/>
            </a:lvl1pPr>
          </a:lstStyle>
          <a:p>
            <a:pPr rtl="0"/>
            <a:r>
              <a:rPr lang="pl-PL" noProof="0"/>
              <a:t>MIEJSCE NA TYTUŁ SLAJDU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 rtlCol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9" name="Numer slajdu — symbol zastępczy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5" name="Obraz — symbol zastępczy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9" name="Obraz — symbol zastępczy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0" name="Obraz — symbol zastępczy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1" name="Obraz — symbol zastępczy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2" name="Obraz — symbol zastępczy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3" name="Obraz — symbol zastępczy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ykres i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767791"/>
            <a:ext cx="11002962" cy="823913"/>
          </a:xfrm>
        </p:spPr>
        <p:txBody>
          <a:bodyPr rtlCol="0">
            <a:noAutofit/>
          </a:bodyPr>
          <a:lstStyle>
            <a:lvl1pPr>
              <a:defRPr sz="4800" spc="3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ta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7" name="Tekst — symbol zastępczy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 rtlCol="0"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ytuł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pl-PL" sz="4800" noProof="0"/>
              <a:t>Kliknij, aby edytować styl wzorca tytułu</a:t>
            </a:r>
          </a:p>
        </p:txBody>
      </p:sp>
      <p:sp>
        <p:nvSpPr>
          <p:cNvPr id="19" name="Obraz — symbol zastępczy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8" name="Obraz — symbol zastępczy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0" name="Tekst — symbol zastępczy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pl-PL" spc="300" noProof="0">
                <a:solidFill>
                  <a:schemeClr val="tx1"/>
                </a:solidFill>
              </a:rPr>
              <a:t>Kliknij, aby edytować style wzorca tekstu</a:t>
            </a:r>
          </a:p>
        </p:txBody>
      </p:sp>
      <p:sp>
        <p:nvSpPr>
          <p:cNvPr id="11" name="Zawartość — symbol zastępczy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l-PL" sz="1400" noProof="0">
                <a:solidFill>
                  <a:schemeClr val="tx1"/>
                </a:solidFill>
              </a:rPr>
              <a:t>Kliknij, aby edytować style wzorca tekstu</a:t>
            </a:r>
          </a:p>
        </p:txBody>
      </p:sp>
      <p:sp>
        <p:nvSpPr>
          <p:cNvPr id="12" name="Tekst — symbol zastępczy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pl-PL" spc="300" noProof="0">
                <a:solidFill>
                  <a:schemeClr val="tx1"/>
                </a:solidFill>
              </a:rPr>
              <a:t>Kliknij, aby edytować style wzorca tekstu</a:t>
            </a:r>
          </a:p>
        </p:txBody>
      </p:sp>
      <p:sp>
        <p:nvSpPr>
          <p:cNvPr id="14" name="Zawartość — symbol zastępczy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l-PL" sz="1400" noProof="0">
                <a:solidFill>
                  <a:schemeClr val="tx1"/>
                </a:solidFill>
              </a:rPr>
              <a:t>Kliknij, aby edytować style wzorca tekstu</a:t>
            </a:r>
          </a:p>
        </p:txBody>
      </p:sp>
      <p:sp>
        <p:nvSpPr>
          <p:cNvPr id="20" name="Numer slajdu — symbol zastępczy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ytuł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pl-PL" sz="4800" noProof="0"/>
              <a:t>Kliknij, aby edytować styl wzorca tytułu</a:t>
            </a:r>
          </a:p>
        </p:txBody>
      </p:sp>
      <p:sp>
        <p:nvSpPr>
          <p:cNvPr id="28" name="Tekst — symbol zastępczy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24" name="Obraz — symbol zastępczy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5" name="Obraz — symbol zastępczy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6" name="Obraz — symbol zastępczy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9" name="Tekst — symbol zastępczy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30" name="Tekst — symbol zastępczy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31" name="Numer slajdu — symbol zastępczy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sum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raz — symbol zastępczy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1" name="Numer slajdu — symbol zastępczy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6" name="Zawartość — symbol zastępczy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pl-PL" sz="1600" noProof="0">
                <a:cs typeface="Biome Light" panose="020B0303030204020804" pitchFamily="34" charset="0"/>
              </a:rPr>
              <a:t>Kliknij, aby edytować styl wzorca tekstu.</a:t>
            </a:r>
          </a:p>
          <a:p>
            <a:pPr marL="0" indent="0" rtl="0">
              <a:buNone/>
            </a:pPr>
            <a:endParaRPr lang="pl-PL" noProof="0"/>
          </a:p>
        </p:txBody>
      </p:sp>
      <p:sp>
        <p:nvSpPr>
          <p:cNvPr id="17" name="Numer slajdu — symbol zastępczy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7" name="Tytuł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mknięc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6" name="Tytuł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 hasCustomPrompt="1"/>
          </p:nvPr>
        </p:nvSpPr>
        <p:spPr>
          <a:xfrm>
            <a:off x="702365" y="1660810"/>
            <a:ext cx="10787270" cy="830649"/>
          </a:xfrm>
        </p:spPr>
        <p:txBody>
          <a:bodyPr rtlCol="0">
            <a:noAutofit/>
          </a:bodyPr>
          <a:lstStyle/>
          <a:p>
            <a:pPr rtl="0"/>
            <a:r>
              <a:rPr lang="pl-PL" sz="4000" spc="300" noProof="0"/>
              <a:t>Kliknij, aby edytować styl wzorca tytułu</a:t>
            </a:r>
          </a:p>
        </p:txBody>
      </p:sp>
      <p:sp>
        <p:nvSpPr>
          <p:cNvPr id="14" name="Tekst — symbol zastępczy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31" name="Tekst — symbol zastępczy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32" name="Tekst — symbol zastępczy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33" name="Tekst — symbol zastępczy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34" name="Obraz online — symbol zastępczy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-PL" noProof="0"/>
              <a:t>Ikona</a:t>
            </a:r>
          </a:p>
        </p:txBody>
      </p:sp>
      <p:sp>
        <p:nvSpPr>
          <p:cNvPr id="35" name="Obraz online — symbol zastępczy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-PL" noProof="0"/>
              <a:t>Ikona</a:t>
            </a:r>
          </a:p>
        </p:txBody>
      </p:sp>
      <p:sp>
        <p:nvSpPr>
          <p:cNvPr id="36" name="Obraz online — symbol zastępczy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-PL" noProof="0"/>
              <a:t>Ikona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Badamiec@st.swps.edu.pl" TargetMode="Externa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— symbol zastępczy 7" descr="abstrakcyjny obraz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ytuł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l-PL" dirty="0"/>
              <a:t>File cert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471868"/>
            <a:ext cx="5167313" cy="96906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ts val="2657"/>
              </a:lnSpc>
              <a:spcBef>
                <a:spcPts val="0"/>
              </a:spcBef>
            </a:pPr>
            <a:r>
              <a:rPr lang="en-US" dirty="0"/>
              <a:t>Bartłomiej Adamiec 76535</a:t>
            </a:r>
            <a:endParaRPr lang="en-US" dirty="0">
              <a:ea typeface="Calibri"/>
              <a:cs typeface="Calibri"/>
            </a:endParaRPr>
          </a:p>
          <a:p>
            <a:pPr>
              <a:lnSpc>
                <a:spcPts val="2657"/>
              </a:lnSpc>
              <a:spcBef>
                <a:spcPts val="0"/>
              </a:spcBef>
            </a:pPr>
            <a:r>
              <a:rPr lang="en-US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badamiec@st.swps.edu.pl</a:t>
            </a:r>
            <a:endParaRPr lang="en-US" dirty="0">
              <a:ea typeface="Calibri"/>
              <a:cs typeface="Calibri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pl-PL" dirty="0"/>
          </a:p>
          <a:p>
            <a:endParaRPr lang="pl-PL" dirty="0">
              <a:ea typeface="Calibri"/>
              <a:cs typeface="Calibri"/>
            </a:endParaRPr>
          </a:p>
        </p:txBody>
      </p:sp>
      <p:sp>
        <p:nvSpPr>
          <p:cNvPr id="7" name="Tekst — symbol zastępczy 6">
            <a:extLst>
              <a:ext uri="{FF2B5EF4-FFF2-40B4-BE49-F238E27FC236}">
                <a16:creationId xmlns:a16="http://schemas.microsoft.com/office/drawing/2014/main" id="{5D865526-EC39-4780-A2A8-274A80A5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pl-PL" dirty="0"/>
              <a:t>System Podpisów cyfrowych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59E44-5D2A-222B-D505-B663CFACE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ytuł 7">
            <a:extLst>
              <a:ext uri="{FF2B5EF4-FFF2-40B4-BE49-F238E27FC236}">
                <a16:creationId xmlns:a16="http://schemas.microsoft.com/office/drawing/2014/main" id="{153D32C5-4EF7-32D5-4EC9-A914D057D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730" y="426183"/>
            <a:ext cx="4159487" cy="930700"/>
          </a:xfrm>
        </p:spPr>
        <p:txBody>
          <a:bodyPr rtlCol="0"/>
          <a:lstStyle/>
          <a:p>
            <a:pPr algn="ctr"/>
            <a:r>
              <a:rPr lang="pl-PL" dirty="0">
                <a:ea typeface="Calibri Light"/>
                <a:cs typeface="Calibri Light"/>
              </a:rPr>
              <a:t>FILE CERT</a:t>
            </a:r>
          </a:p>
        </p:txBody>
      </p:sp>
      <p:sp>
        <p:nvSpPr>
          <p:cNvPr id="10" name="Tekst — symbol zastępczy 9">
            <a:extLst>
              <a:ext uri="{FF2B5EF4-FFF2-40B4-BE49-F238E27FC236}">
                <a16:creationId xmlns:a16="http://schemas.microsoft.com/office/drawing/2014/main" id="{2391094D-A81B-0753-3F5B-99467E19E3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23173" y="1360284"/>
            <a:ext cx="4165370" cy="464871"/>
          </a:xfrm>
        </p:spPr>
        <p:txBody>
          <a:bodyPr rtlCol="0"/>
          <a:lstStyle/>
          <a:p>
            <a:r>
              <a:rPr lang="pl-PL">
                <a:ea typeface="Calibri"/>
                <a:cs typeface="Calibri"/>
              </a:rPr>
              <a:t>Opis projektu</a:t>
            </a:r>
            <a:endParaRPr lang="pl-PL" dirty="0">
              <a:ea typeface="Calibri"/>
              <a:cs typeface="Calibri"/>
            </a:endParaRPr>
          </a:p>
        </p:txBody>
      </p:sp>
      <p:sp>
        <p:nvSpPr>
          <p:cNvPr id="9" name="Zawartość — symbol zastępczy 8">
            <a:extLst>
              <a:ext uri="{FF2B5EF4-FFF2-40B4-BE49-F238E27FC236}">
                <a16:creationId xmlns:a16="http://schemas.microsoft.com/office/drawing/2014/main" id="{7FB693FC-FCDE-BC10-A916-8045C36B0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2872" y="1931017"/>
            <a:ext cx="8457098" cy="125637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l-PL" dirty="0">
                <a:ea typeface="Calibri"/>
                <a:cs typeface="Biome Light"/>
              </a:rPr>
              <a:t>Syste</a:t>
            </a:r>
            <a:r>
              <a:rPr lang="pl-PL" dirty="0">
                <a:ea typeface="Calibri"/>
                <a:cs typeface="Calibri"/>
              </a:rPr>
              <a:t>m klient – serwer (REST API) obsługiwany z poziomu CLI. Pozwala na cyfrowe podpisanie dokumentu PDF zgodnie ze standardem </a:t>
            </a:r>
            <a:r>
              <a:rPr lang="pl-PL" dirty="0" err="1">
                <a:ea typeface="Calibri"/>
                <a:cs typeface="Calibri"/>
              </a:rPr>
              <a:t>PAdES</a:t>
            </a:r>
            <a:r>
              <a:rPr lang="pl-PL" dirty="0">
                <a:ea typeface="Calibri"/>
                <a:cs typeface="Calibri"/>
              </a:rPr>
              <a:t> oraz weryfikację innych podpisanych plików. Weryfikacja jest pozytywna jeśli każdy z podpisów na danym dokumencie jest zgodny, plik nie został nadpisany i osoba podpisująca jest użytkownikiem systemu.</a:t>
            </a:r>
          </a:p>
          <a:p>
            <a:pPr marL="0" indent="0" algn="ctr">
              <a:lnSpc>
                <a:spcPct val="100000"/>
              </a:lnSpc>
              <a:buNone/>
            </a:pPr>
            <a:endParaRPr lang="pl-PL" dirty="0">
              <a:ea typeface="Calibri"/>
              <a:cs typeface="Calibri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pl-PL" dirty="0">
              <a:ea typeface="Calibri"/>
              <a:cs typeface="Calibri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pl-PL" dirty="0">
              <a:ea typeface="Calibri"/>
              <a:cs typeface="Calibri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pl-PL" dirty="0">
                <a:ea typeface="Calibri"/>
                <a:cs typeface="Calibri"/>
              </a:rPr>
              <a:t>Klient napisany w: Typer.</a:t>
            </a:r>
            <a:endParaRPr lang="en-US" dirty="0">
              <a:ea typeface="Calibri"/>
              <a:cs typeface="Calibri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pl-PL" dirty="0">
                <a:ea typeface="Calibri"/>
                <a:cs typeface="Calibri"/>
              </a:rPr>
              <a:t>Asynchroniczny serwer ASGI (</a:t>
            </a:r>
            <a:r>
              <a:rPr lang="pl-PL" dirty="0" err="1">
                <a:ea typeface="Calibri"/>
                <a:cs typeface="Calibri"/>
              </a:rPr>
              <a:t>Asynchronous</a:t>
            </a:r>
            <a:r>
              <a:rPr lang="pl-PL" dirty="0">
                <a:ea typeface="Calibri"/>
                <a:cs typeface="Calibri"/>
              </a:rPr>
              <a:t> Server Gateway Interface): UVICORN</a:t>
            </a:r>
            <a:endParaRPr lang="en-US" dirty="0">
              <a:ea typeface="Calibri"/>
              <a:cs typeface="Calibri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pl-PL" dirty="0">
                <a:ea typeface="Calibri"/>
                <a:cs typeface="Calibri"/>
              </a:rPr>
              <a:t>Komunikacja (API) napisane z </a:t>
            </a:r>
            <a:r>
              <a:rPr lang="pl-PL" dirty="0" err="1">
                <a:ea typeface="Calibri"/>
                <a:cs typeface="Calibri"/>
              </a:rPr>
              <a:t>pomoca</a:t>
            </a:r>
            <a:r>
              <a:rPr lang="pl-PL" dirty="0">
                <a:ea typeface="Calibri"/>
                <a:cs typeface="Calibri"/>
              </a:rPr>
              <a:t>: </a:t>
            </a:r>
            <a:r>
              <a:rPr lang="pl-PL" dirty="0" err="1">
                <a:ea typeface="Calibri"/>
                <a:cs typeface="Calibri"/>
              </a:rPr>
              <a:t>FastAPI</a:t>
            </a:r>
            <a:endParaRPr lang="pl-PL" dirty="0">
              <a:ea typeface="Calibri"/>
              <a:cs typeface="Calibri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pl-PL" dirty="0">
                <a:ea typeface="Calibri"/>
                <a:cs typeface="Calibri"/>
              </a:rPr>
              <a:t>Kryptografia: </a:t>
            </a:r>
            <a:r>
              <a:rPr lang="pl-PL" dirty="0" err="1">
                <a:ea typeface="Calibri"/>
                <a:cs typeface="Calibri"/>
              </a:rPr>
              <a:t>Pyhanko</a:t>
            </a:r>
            <a:r>
              <a:rPr lang="pl-PL" dirty="0">
                <a:ea typeface="Calibri"/>
                <a:cs typeface="Calibri"/>
              </a:rPr>
              <a:t>, </a:t>
            </a:r>
            <a:r>
              <a:rPr lang="pl-PL" dirty="0" err="1">
                <a:ea typeface="Calibri"/>
                <a:cs typeface="Calibri"/>
              </a:rPr>
              <a:t>cryptography</a:t>
            </a:r>
            <a:endParaRPr lang="pl-PL" dirty="0">
              <a:ea typeface="Calibri"/>
              <a:cs typeface="Calibri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pl-PL" dirty="0">
                <a:ea typeface="Calibri"/>
                <a:cs typeface="Calibri"/>
              </a:rPr>
              <a:t>Baza </a:t>
            </a:r>
            <a:r>
              <a:rPr lang="pl-PL" dirty="0" err="1">
                <a:ea typeface="Calibri"/>
                <a:cs typeface="Calibri"/>
              </a:rPr>
              <a:t>NoSQL</a:t>
            </a:r>
            <a:r>
              <a:rPr lang="pl-PL" dirty="0">
                <a:ea typeface="Calibri"/>
                <a:cs typeface="Calibri"/>
              </a:rPr>
              <a:t>: </a:t>
            </a:r>
            <a:r>
              <a:rPr lang="pl-PL" dirty="0" err="1">
                <a:ea typeface="Calibri"/>
                <a:cs typeface="Calibri"/>
              </a:rPr>
              <a:t>MongoDB</a:t>
            </a:r>
            <a:endParaRPr lang="pl-PL" dirty="0" err="1"/>
          </a:p>
          <a:p>
            <a:pPr marL="0" indent="0">
              <a:lnSpc>
                <a:spcPct val="100000"/>
              </a:lnSpc>
              <a:buNone/>
            </a:pPr>
            <a:endParaRPr lang="pl-PL" dirty="0">
              <a:ea typeface="Calibri"/>
              <a:cs typeface="Calibri"/>
            </a:endParaRP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352D718C-628C-6AE6-D77B-C4548D813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smtClean="0"/>
              <a:t>2</a:t>
            </a:fld>
            <a:endParaRPr lang="pl-PL"/>
          </a:p>
        </p:txBody>
      </p:sp>
      <p:sp>
        <p:nvSpPr>
          <p:cNvPr id="3" name="Tekst — symbol zastępczy 9">
            <a:extLst>
              <a:ext uri="{FF2B5EF4-FFF2-40B4-BE49-F238E27FC236}">
                <a16:creationId xmlns:a16="http://schemas.microsoft.com/office/drawing/2014/main" id="{42584532-220E-E960-26F2-6DC56E7C4BFB}"/>
              </a:ext>
            </a:extLst>
          </p:cNvPr>
          <p:cNvSpPr txBox="1">
            <a:spLocks/>
          </p:cNvSpPr>
          <p:nvPr/>
        </p:nvSpPr>
        <p:spPr>
          <a:xfrm>
            <a:off x="4026677" y="3430822"/>
            <a:ext cx="4165370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>
                <a:ea typeface="Calibri"/>
                <a:cs typeface="Calibri"/>
              </a:rPr>
              <a:t>Technologie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23505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AC161-9A5B-D644-F878-E5765ABE1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ytuł 7">
            <a:extLst>
              <a:ext uri="{FF2B5EF4-FFF2-40B4-BE49-F238E27FC236}">
                <a16:creationId xmlns:a16="http://schemas.microsoft.com/office/drawing/2014/main" id="{90B75E3E-3B8A-133B-A04D-16F5D440E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1340" y="-20076"/>
            <a:ext cx="4165401" cy="927533"/>
          </a:xfrm>
        </p:spPr>
        <p:txBody>
          <a:bodyPr rtlCol="0"/>
          <a:lstStyle/>
          <a:p>
            <a:pPr algn="ctr"/>
            <a:r>
              <a:rPr lang="pl-PL" dirty="0">
                <a:ea typeface="Calibri Light"/>
                <a:cs typeface="Calibri Light"/>
              </a:rPr>
              <a:t>Po co to komu?</a:t>
            </a:r>
            <a:endParaRPr lang="pl-PL"/>
          </a:p>
        </p:txBody>
      </p:sp>
      <p:sp>
        <p:nvSpPr>
          <p:cNvPr id="10" name="Tekst — symbol zastępczy 9">
            <a:extLst>
              <a:ext uri="{FF2B5EF4-FFF2-40B4-BE49-F238E27FC236}">
                <a16:creationId xmlns:a16="http://schemas.microsoft.com/office/drawing/2014/main" id="{D616958F-FA7F-4E20-0AE9-29D671D317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00994" y="914025"/>
            <a:ext cx="4165370" cy="464871"/>
          </a:xfrm>
        </p:spPr>
        <p:txBody>
          <a:bodyPr rtlCol="0"/>
          <a:lstStyle/>
          <a:p>
            <a:r>
              <a:rPr lang="pl-PL"/>
              <a:t>Przykłady</a:t>
            </a:r>
          </a:p>
        </p:txBody>
      </p:sp>
      <p:sp>
        <p:nvSpPr>
          <p:cNvPr id="9" name="Zawartość — symbol zastępczy 8">
            <a:extLst>
              <a:ext uri="{FF2B5EF4-FFF2-40B4-BE49-F238E27FC236}">
                <a16:creationId xmlns:a16="http://schemas.microsoft.com/office/drawing/2014/main" id="{6050CDE4-5324-BEF6-D129-444175750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1546" y="1786504"/>
            <a:ext cx="9573268" cy="399503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lnSpc>
                <a:spcPct val="100000"/>
              </a:lnSpc>
              <a:buAutoNum type="arabicPeriod"/>
            </a:pPr>
            <a:r>
              <a:rPr lang="pl-PL" sz="1800" dirty="0">
                <a:ea typeface="Calibri"/>
                <a:cs typeface="Biome Light"/>
              </a:rPr>
              <a:t>Gdy dzieli nas fizyczny dystans, a musimy podpisać umów.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pl-PL" sz="1800" dirty="0">
                <a:ea typeface="Calibri"/>
                <a:cs typeface="Biome Light"/>
              </a:rPr>
              <a:t>Gdy chcemy zobaczyć czy ktoś nie dopisał czegoś do umowy po tym jak już ją podpisaliśmy.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pl-PL" sz="1800" dirty="0">
                <a:ea typeface="Calibri"/>
                <a:cs typeface="Biome Light"/>
              </a:rPr>
              <a:t>Gdy chcemy zweryfikować czy dokładnie ta osoba podpisała konkretny dokument.</a:t>
            </a:r>
          </a:p>
          <a:p>
            <a:pPr marL="0" indent="0">
              <a:lnSpc>
                <a:spcPct val="100000"/>
              </a:lnSpc>
              <a:buNone/>
            </a:pPr>
            <a:endParaRPr lang="pl-PL" sz="1800" dirty="0">
              <a:ea typeface="Calibri"/>
              <a:cs typeface="Biome Light"/>
            </a:endParaRPr>
          </a:p>
          <a:p>
            <a:pPr marL="0" indent="0">
              <a:lnSpc>
                <a:spcPct val="100000"/>
              </a:lnSpc>
              <a:buNone/>
            </a:pPr>
            <a:endParaRPr lang="pl-PL" sz="1800" dirty="0"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pl-PL" sz="1800" dirty="0">
                <a:ea typeface="Calibri"/>
                <a:cs typeface="Calibri"/>
              </a:rPr>
              <a:t>Autentyczność </a:t>
            </a:r>
            <a:endParaRPr lang="en-US" sz="1800"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buFont typeface="Courier New,monospace"/>
              <a:buChar char="o"/>
            </a:pPr>
            <a:r>
              <a:rPr lang="pl-PL" sz="1800" dirty="0">
                <a:ea typeface="Calibri"/>
                <a:cs typeface="Calibri"/>
              </a:rPr>
              <a:t>Pewność kto podpisał (weryfikacja X.509)</a:t>
            </a:r>
            <a:endParaRPr lang="en-US" sz="1800"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pl-PL" sz="1800" err="1">
                <a:ea typeface="Calibri"/>
                <a:cs typeface="Calibri"/>
              </a:rPr>
              <a:t>Integralnosc</a:t>
            </a:r>
            <a:endParaRPr lang="pl-PL" sz="1800" dirty="0"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buFont typeface="Courier New,monospace"/>
              <a:buChar char="o"/>
            </a:pPr>
            <a:r>
              <a:rPr lang="pl-PL" sz="1800" dirty="0">
                <a:ea typeface="Calibri"/>
                <a:cs typeface="Calibri"/>
              </a:rPr>
              <a:t>Pewność że plik nie został zmieniony</a:t>
            </a:r>
            <a:endParaRPr lang="en-US" sz="1800"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pl-PL" sz="1800" err="1">
                <a:ea typeface="Calibri"/>
                <a:cs typeface="Calibri"/>
              </a:rPr>
              <a:t>Niezaprzeczalnosc</a:t>
            </a:r>
            <a:endParaRPr lang="en-US" sz="1800"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buFont typeface="Courier New,monospace"/>
              <a:buChar char="o"/>
            </a:pPr>
            <a:r>
              <a:rPr lang="pl-PL" sz="1800" dirty="0">
                <a:ea typeface="Calibri"/>
                <a:cs typeface="Calibri"/>
              </a:rPr>
              <a:t>Autor nie może wyprzeć się podpisu, ponieważ tylko on posiadał klucz prywatny</a:t>
            </a:r>
            <a:endParaRPr lang="pl-PL" sz="1800" dirty="0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5D12EA62-876F-C07D-F9BF-25449D091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smtClean="0"/>
              <a:t>3</a:t>
            </a:fld>
            <a:endParaRPr lang="pl-PL"/>
          </a:p>
        </p:txBody>
      </p:sp>
      <p:sp>
        <p:nvSpPr>
          <p:cNvPr id="12" name="Tekst — symbol zastępczy 9">
            <a:extLst>
              <a:ext uri="{FF2B5EF4-FFF2-40B4-BE49-F238E27FC236}">
                <a16:creationId xmlns:a16="http://schemas.microsoft.com/office/drawing/2014/main" id="{3439DD3A-278C-C91A-1C22-1DA9086E9146}"/>
              </a:ext>
            </a:extLst>
          </p:cNvPr>
          <p:cNvSpPr txBox="1">
            <a:spLocks/>
          </p:cNvSpPr>
          <p:nvPr/>
        </p:nvSpPr>
        <p:spPr>
          <a:xfrm>
            <a:off x="3814849" y="3092652"/>
            <a:ext cx="4165370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/>
              <a:t>Zalety</a:t>
            </a:r>
          </a:p>
        </p:txBody>
      </p:sp>
    </p:spTree>
    <p:extLst>
      <p:ext uri="{BB962C8B-B14F-4D97-AF65-F5344CB8AC3E}">
        <p14:creationId xmlns:p14="http://schemas.microsoft.com/office/powerpoint/2010/main" val="1609259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ytuł 7">
            <a:extLst>
              <a:ext uri="{FF2B5EF4-FFF2-40B4-BE49-F238E27FC236}">
                <a16:creationId xmlns:a16="http://schemas.microsoft.com/office/drawing/2014/main" id="{103950CF-5BF2-4FB0-A36C-48C194F3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976" y="586060"/>
            <a:ext cx="4156741" cy="927533"/>
          </a:xfrm>
        </p:spPr>
        <p:txBody>
          <a:bodyPr rtlCol="0"/>
          <a:lstStyle/>
          <a:p>
            <a:r>
              <a:rPr lang="pl-PL" dirty="0"/>
              <a:t>Podpis Elektroniczny</a:t>
            </a:r>
          </a:p>
        </p:txBody>
      </p:sp>
      <p:sp>
        <p:nvSpPr>
          <p:cNvPr id="10" name="Tekst — symbol zastępczy 9">
            <a:extLst>
              <a:ext uri="{FF2B5EF4-FFF2-40B4-BE49-F238E27FC236}">
                <a16:creationId xmlns:a16="http://schemas.microsoft.com/office/drawing/2014/main" id="{255FA470-23EB-4512-8FFB-28DDAB08B0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16630" y="1520161"/>
            <a:ext cx="4165370" cy="464871"/>
          </a:xfrm>
        </p:spPr>
        <p:txBody>
          <a:bodyPr rtlCol="0"/>
          <a:lstStyle/>
          <a:p>
            <a:r>
              <a:rPr lang="pl-PL"/>
              <a:t>Jak działa?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A4BADA18-8F0E-4249-A144-6CB8259BA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smtClean="0"/>
              <a:t>4</a:t>
            </a:fld>
            <a:endParaRPr lang="pl-PL"/>
          </a:p>
        </p:txBody>
      </p:sp>
      <p:pic>
        <p:nvPicPr>
          <p:cNvPr id="13" name="Obraz 12" descr="Obraz zawierający tekst, zrzut ekranu, Czcionka, biały&#10;&#10;Zawartość wygenerowana przez AI może być niepoprawna.">
            <a:extLst>
              <a:ext uri="{FF2B5EF4-FFF2-40B4-BE49-F238E27FC236}">
                <a16:creationId xmlns:a16="http://schemas.microsoft.com/office/drawing/2014/main" id="{CDC34B05-8E50-B3DD-960E-BFF511DE6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04" y="2783466"/>
            <a:ext cx="10660206" cy="255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373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tekst, diagram, zrzut ekranu, Równolegle&#10;&#10;Zawartość wygenerowana przez AI może być niepoprawna.">
            <a:extLst>
              <a:ext uri="{FF2B5EF4-FFF2-40B4-BE49-F238E27FC236}">
                <a16:creationId xmlns:a16="http://schemas.microsoft.com/office/drawing/2014/main" id="{4538248B-B1F9-27D6-7EAD-759E05762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50" y="380319"/>
            <a:ext cx="8420099" cy="6108246"/>
          </a:xfrm>
          <a:prstGeom prst="rect">
            <a:avLst/>
          </a:prstGeom>
        </p:spPr>
      </p:pic>
      <p:sp>
        <p:nvSpPr>
          <p:cNvPr id="12" name="Tytuł 3">
            <a:extLst>
              <a:ext uri="{FF2B5EF4-FFF2-40B4-BE49-F238E27FC236}">
                <a16:creationId xmlns:a16="http://schemas.microsoft.com/office/drawing/2014/main" id="{FAAB2787-6A77-4A87-993D-DDAF92418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898" y="169077"/>
            <a:ext cx="6405480" cy="823913"/>
          </a:xfrm>
        </p:spPr>
        <p:txBody>
          <a:bodyPr rtlCol="0">
            <a:normAutofit/>
          </a:bodyPr>
          <a:lstStyle/>
          <a:p>
            <a:pPr rtl="0"/>
            <a:r>
              <a:rPr lang="pl-PL" dirty="0">
                <a:ea typeface="Calibri Light"/>
                <a:cs typeface="Calibri Light"/>
              </a:rPr>
              <a:t>architektura</a:t>
            </a:r>
            <a:endParaRPr lang="pl-PL" sz="4800" dirty="0">
              <a:ea typeface="Calibri Light"/>
              <a:cs typeface="Calibri Light"/>
            </a:endParaRPr>
          </a:p>
        </p:txBody>
      </p:sp>
      <p:sp>
        <p:nvSpPr>
          <p:cNvPr id="2" name="Numer slajdu — symbol zastępczy 1">
            <a:extLst>
              <a:ext uri="{FF2B5EF4-FFF2-40B4-BE49-F238E27FC236}">
                <a16:creationId xmlns:a16="http://schemas.microsoft.com/office/drawing/2014/main" id="{6AC2F439-9B68-4159-977F-8EC563FB15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9095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Obraz — symbol zastępczy 7" descr="abstrakcyjny obraz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ytuł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 rtlCol="0">
            <a:normAutofit/>
          </a:bodyPr>
          <a:lstStyle/>
          <a:p>
            <a:r>
              <a:rPr lang="pl-PL" sz="4000" spc="300" dirty="0">
                <a:ea typeface="Calibri Light"/>
                <a:cs typeface="Calibri Light"/>
              </a:rPr>
              <a:t>Czas na demonstrację!</a:t>
            </a:r>
          </a:p>
        </p:txBody>
      </p:sp>
      <p:pic>
        <p:nvPicPr>
          <p:cNvPr id="24" name="Obraz online — symbol zastępczy 23" descr="Użytkownik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78915" y="3173326"/>
            <a:ext cx="731520" cy="731520"/>
          </a:xfrm>
        </p:spPr>
      </p:pic>
      <p:sp>
        <p:nvSpPr>
          <p:cNvPr id="8" name="Tekst — symbol zastępczy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75169" y="3903126"/>
            <a:ext cx="3139010" cy="51879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dirty="0"/>
              <a:t>Bartłomiej Adamiec</a:t>
            </a:r>
            <a:endParaRPr lang="pl-PL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59221" y="5137992"/>
            <a:ext cx="5167313" cy="51879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dirty="0"/>
              <a:t>badamiec@st.swps.edu.pl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5661986_LW_V2" id="{E5110F26-8197-DB45-AF5B-7431BEF0563B}" vid="{8AAB886A-F653-1948-BBB7-F7B1A419C211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02A8ED-1331-4C1D-8649-743D7BE164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9E4EAC9-33DC-4CF0-BA31-C98F61CE47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A06775-4FD5-4278-BDCC-E6FF131E96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444</Words>
  <Application>Microsoft Office PowerPoint</Application>
  <PresentationFormat>Panoramiczny</PresentationFormat>
  <Paragraphs>142</Paragraphs>
  <Slides>6</Slides>
  <Notes>6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7" baseType="lpstr">
      <vt:lpstr>Motyw pakietu Office</vt:lpstr>
      <vt:lpstr>File cert</vt:lpstr>
      <vt:lpstr>FILE CERT</vt:lpstr>
      <vt:lpstr>Po co to komu?</vt:lpstr>
      <vt:lpstr>Podpis Elektroniczny</vt:lpstr>
      <vt:lpstr>architektura</vt:lpstr>
      <vt:lpstr>Czas na demonstrację!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372</cp:revision>
  <dcterms:created xsi:type="dcterms:W3CDTF">2026-01-19T13:30:36Z</dcterms:created>
  <dcterms:modified xsi:type="dcterms:W3CDTF">2026-01-26T19:14:35Z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